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6FEB59-E709-4349-90C5-6827F602B20F}" v="8" dt="2026-08-30T18:37:56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am Goyal" userId="80d06d8c55166d05" providerId="LiveId" clId="{ABFACEB9-6DAB-439A-A48A-7C8D491B1D57}"/>
    <pc:docChg chg="undo custSel modSld">
      <pc:chgData name="Ridham Goyal" userId="80d06d8c55166d05" providerId="LiveId" clId="{ABFACEB9-6DAB-439A-A48A-7C8D491B1D57}" dt="2026-08-30T18:39:54.548" v="146" actId="121"/>
      <pc:docMkLst>
        <pc:docMk/>
      </pc:docMkLst>
      <pc:sldChg chg="addSp delSp modSp mod">
        <pc:chgData name="Ridham Goyal" userId="80d06d8c55166d05" providerId="LiveId" clId="{ABFACEB9-6DAB-439A-A48A-7C8D491B1D57}" dt="2026-08-30T18:29:17.203" v="76" actId="2711"/>
        <pc:sldMkLst>
          <pc:docMk/>
          <pc:sldMk cId="0" sldId="256"/>
        </pc:sldMkLst>
        <pc:spChg chg="mod">
          <ac:chgData name="Ridham Goyal" userId="80d06d8c55166d05" providerId="LiveId" clId="{ABFACEB9-6DAB-439A-A48A-7C8D491B1D57}" dt="2026-08-30T18:29:17.203" v="76" actId="2711"/>
          <ac:spMkLst>
            <pc:docMk/>
            <pc:sldMk cId="0" sldId="256"/>
            <ac:spMk id="15" creationId="{E45C4C19-BE92-DBCE-8198-3B0FAC3C96A6}"/>
          </ac:spMkLst>
        </pc:spChg>
        <pc:picChg chg="del mod">
          <ac:chgData name="Ridham Goyal" userId="80d06d8c55166d05" providerId="LiveId" clId="{ABFACEB9-6DAB-439A-A48A-7C8D491B1D57}" dt="2026-08-30T18:26:59.846" v="60" actId="478"/>
          <ac:picMkLst>
            <pc:docMk/>
            <pc:sldMk cId="0" sldId="256"/>
            <ac:picMk id="2" creationId="{00000000-0000-0000-0000-000000000000}"/>
          </ac:picMkLst>
        </pc:picChg>
        <pc:picChg chg="add del mod ord">
          <ac:chgData name="Ridham Goyal" userId="80d06d8c55166d05" providerId="LiveId" clId="{ABFACEB9-6DAB-439A-A48A-7C8D491B1D57}" dt="2026-08-30T18:27:02.546" v="61" actId="478"/>
          <ac:picMkLst>
            <pc:docMk/>
            <pc:sldMk cId="0" sldId="256"/>
            <ac:picMk id="17" creationId="{E3D9E69D-DB89-D16A-D225-5922CF7B3656}"/>
          </ac:picMkLst>
        </pc:picChg>
        <pc:picChg chg="add ord">
          <ac:chgData name="Ridham Goyal" userId="80d06d8c55166d05" providerId="LiveId" clId="{ABFACEB9-6DAB-439A-A48A-7C8D491B1D57}" dt="2026-08-30T18:27:13.500" v="63" actId="167"/>
          <ac:picMkLst>
            <pc:docMk/>
            <pc:sldMk cId="0" sldId="256"/>
            <ac:picMk id="19" creationId="{08FCC57A-1331-8A47-FCEB-7A9FEF5B5DB7}"/>
          </ac:picMkLst>
        </pc:picChg>
      </pc:sldChg>
      <pc:sldChg chg="addSp delSp modSp mod">
        <pc:chgData name="Ridham Goyal" userId="80d06d8c55166d05" providerId="LiveId" clId="{ABFACEB9-6DAB-439A-A48A-7C8D491B1D57}" dt="2026-08-30T18:30:14.824" v="78" actId="1076"/>
        <pc:sldMkLst>
          <pc:docMk/>
          <pc:sldMk cId="0" sldId="257"/>
        </pc:sldMkLst>
        <pc:spChg chg="mod">
          <ac:chgData name="Ridham Goyal" userId="80d06d8c55166d05" providerId="LiveId" clId="{ABFACEB9-6DAB-439A-A48A-7C8D491B1D57}" dt="2026-08-30T18:24:46.999" v="56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33.245" v="55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4:11.858" v="51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2:14.264" v="40" actId="2711"/>
          <ac:spMkLst>
            <pc:docMk/>
            <pc:sldMk cId="0" sldId="257"/>
            <ac:spMk id="2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0:06.503" v="77" actId="1076"/>
          <ac:spMkLst>
            <pc:docMk/>
            <pc:sldMk cId="0" sldId="257"/>
            <ac:spMk id="30" creationId="{44BD6D0A-0AA7-E7F6-9E92-2EBE8A209E3E}"/>
          </ac:spMkLst>
        </pc:spChg>
        <pc:spChg chg="mod">
          <ac:chgData name="Ridham Goyal" userId="80d06d8c55166d05" providerId="LiveId" clId="{ABFACEB9-6DAB-439A-A48A-7C8D491B1D57}" dt="2026-08-30T18:30:14.824" v="78" actId="1076"/>
          <ac:spMkLst>
            <pc:docMk/>
            <pc:sldMk cId="0" sldId="257"/>
            <ac:spMk id="32" creationId="{7B60BF1E-D531-8B7C-A1C1-A8AABE6F2CB6}"/>
          </ac:spMkLst>
        </pc:spChg>
        <pc:grpChg chg="mod">
          <ac:chgData name="Ridham Goyal" userId="80d06d8c55166d05" providerId="LiveId" clId="{ABFACEB9-6DAB-439A-A48A-7C8D491B1D57}" dt="2026-08-30T18:23:04.742" v="44" actId="1076"/>
          <ac:grpSpMkLst>
            <pc:docMk/>
            <pc:sldMk cId="0" sldId="257"/>
            <ac:grpSpMk id="33" creationId="{5579F93A-87CC-9596-20E8-1DA7E4A4B0CA}"/>
          </ac:grpSpMkLst>
        </pc:grpChg>
        <pc:picChg chg="del">
          <ac:chgData name="Ridham Goyal" userId="80d06d8c55166d05" providerId="LiveId" clId="{ABFACEB9-6DAB-439A-A48A-7C8D491B1D57}" dt="2026-08-30T18:27:22.439" v="64" actId="478"/>
          <ac:picMkLst>
            <pc:docMk/>
            <pc:sldMk cId="0" sldId="257"/>
            <ac:picMk id="2" creationId="{00000000-0000-0000-0000-000000000000}"/>
          </ac:picMkLst>
        </pc:picChg>
        <pc:picChg chg="add ord">
          <ac:chgData name="Ridham Goyal" userId="80d06d8c55166d05" providerId="LiveId" clId="{ABFACEB9-6DAB-439A-A48A-7C8D491B1D57}" dt="2026-08-30T18:27:28.239" v="66" actId="167"/>
          <ac:picMkLst>
            <pc:docMk/>
            <pc:sldMk cId="0" sldId="257"/>
            <ac:picMk id="35" creationId="{B02E1DD2-FE42-D344-8707-8B81350CF175}"/>
          </ac:picMkLst>
        </pc:picChg>
      </pc:sldChg>
      <pc:sldChg chg="addSp delSp modSp mod">
        <pc:chgData name="Ridham Goyal" userId="80d06d8c55166d05" providerId="LiveId" clId="{ABFACEB9-6DAB-439A-A48A-7C8D491B1D57}" dt="2026-08-30T18:32:29.477" v="98" actId="1076"/>
        <pc:sldMkLst>
          <pc:docMk/>
          <pc:sldMk cId="0" sldId="258"/>
        </pc:sldMkLst>
        <pc:spChg chg="mod">
          <ac:chgData name="Ridham Goyal" userId="80d06d8c55166d05" providerId="LiveId" clId="{ABFACEB9-6DAB-439A-A48A-7C8D491B1D57}" dt="2026-08-30T18:31:27.132" v="82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21.453" v="81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30.598" v="83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21.453" v="81" actId="255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34.724" v="84" actId="403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2:29.477" v="98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38.016" v="85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21.453" v="81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1:05.654" v="79" actId="2711"/>
          <ac:spMkLst>
            <pc:docMk/>
            <pc:sldMk cId="0" sldId="258"/>
            <ac:spMk id="27" creationId="{00000000-0000-0000-0000-000000000000}"/>
          </ac:spMkLst>
        </pc:spChg>
        <pc:spChg chg="del">
          <ac:chgData name="Ridham Goyal" userId="80d06d8c55166d05" providerId="LiveId" clId="{ABFACEB9-6DAB-439A-A48A-7C8D491B1D57}" dt="2026-08-30T18:16:46.781" v="14" actId="478"/>
          <ac:spMkLst>
            <pc:docMk/>
            <pc:sldMk cId="0" sldId="258"/>
            <ac:spMk id="2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1:42.107" v="38" actId="1076"/>
          <ac:spMkLst>
            <pc:docMk/>
            <pc:sldMk cId="0" sldId="258"/>
            <ac:spMk id="30" creationId="{E95FAC11-F6E3-CA98-1FA1-F0E6A72E0182}"/>
          </ac:spMkLst>
        </pc:spChg>
        <pc:spChg chg="mod">
          <ac:chgData name="Ridham Goyal" userId="80d06d8c55166d05" providerId="LiveId" clId="{ABFACEB9-6DAB-439A-A48A-7C8D491B1D57}" dt="2026-08-30T18:21:32.520" v="37" actId="1076"/>
          <ac:spMkLst>
            <pc:docMk/>
            <pc:sldMk cId="0" sldId="258"/>
            <ac:spMk id="32" creationId="{AD5E9016-701A-DCEA-C161-6CF8D95F7CF5}"/>
          </ac:spMkLst>
        </pc:spChg>
        <pc:grpChg chg="mod">
          <ac:chgData name="Ridham Goyal" userId="80d06d8c55166d05" providerId="LiveId" clId="{ABFACEB9-6DAB-439A-A48A-7C8D491B1D57}" dt="2026-08-30T18:21:23.251" v="34" actId="1076"/>
          <ac:grpSpMkLst>
            <pc:docMk/>
            <pc:sldMk cId="0" sldId="258"/>
            <ac:grpSpMk id="33" creationId="{70697BEA-70E6-7A56-B444-3D681542FA56}"/>
          </ac:grpSpMkLst>
        </pc:grpChg>
        <pc:picChg chg="del">
          <ac:chgData name="Ridham Goyal" userId="80d06d8c55166d05" providerId="LiveId" clId="{ABFACEB9-6DAB-439A-A48A-7C8D491B1D57}" dt="2026-08-30T18:27:31.649" v="67" actId="478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21:12.445" v="33" actId="164"/>
          <ac:picMkLst>
            <pc:docMk/>
            <pc:sldMk cId="0" sldId="258"/>
            <ac:picMk id="15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21:12.445" v="33" actId="164"/>
          <ac:picMkLst>
            <pc:docMk/>
            <pc:sldMk cId="0" sldId="258"/>
            <ac:picMk id="26" creationId="{00000000-0000-0000-0000-000000000000}"/>
          </ac:picMkLst>
        </pc:picChg>
        <pc:picChg chg="add ord">
          <ac:chgData name="Ridham Goyal" userId="80d06d8c55166d05" providerId="LiveId" clId="{ABFACEB9-6DAB-439A-A48A-7C8D491B1D57}" dt="2026-08-30T18:27:35.843" v="69" actId="167"/>
          <ac:picMkLst>
            <pc:docMk/>
            <pc:sldMk cId="0" sldId="258"/>
            <ac:picMk id="35" creationId="{703FBEAE-B906-6FDD-E636-A7DE1857D062}"/>
          </ac:picMkLst>
        </pc:picChg>
      </pc:sldChg>
      <pc:sldChg chg="addSp delSp modSp mod">
        <pc:chgData name="Ridham Goyal" userId="80d06d8c55166d05" providerId="LiveId" clId="{ABFACEB9-6DAB-439A-A48A-7C8D491B1D57}" dt="2026-08-30T18:39:54.548" v="146" actId="121"/>
        <pc:sldMkLst>
          <pc:docMk/>
          <pc:sldMk cId="0" sldId="259"/>
        </pc:sldMkLst>
        <pc:spChg chg="mod">
          <ac:chgData name="Ridham Goyal" userId="80d06d8c55166d05" providerId="LiveId" clId="{ABFACEB9-6DAB-439A-A48A-7C8D491B1D57}" dt="2026-08-30T18:36:06.912" v="122" actId="403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57.345" v="120" actId="255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9:45.212" v="142" actId="121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57.345" v="120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9:47.324" v="143" actId="121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57.345" v="120" actId="255"/>
          <ac:spMkLst>
            <pc:docMk/>
            <pc:sldMk cId="0" sldId="259"/>
            <ac:spMk id="2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9:49.682" v="144" actId="121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57.345" v="120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9:51.756" v="145" actId="121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7:56.538" v="131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7:56.538" v="131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6:16.046" v="124" actId="403"/>
          <ac:spMkLst>
            <pc:docMk/>
            <pc:sldMk cId="0" sldId="259"/>
            <ac:spMk id="3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57.345" v="120" actId="255"/>
          <ac:spMkLst>
            <pc:docMk/>
            <pc:sldMk cId="0" sldId="259"/>
            <ac:spMk id="31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6:46.553" v="126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6:46.553" v="126" actId="164"/>
          <ac:spMkLst>
            <pc:docMk/>
            <pc:sldMk cId="0" sldId="259"/>
            <ac:spMk id="33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5:43.480" v="118" actId="1076"/>
          <ac:spMkLst>
            <pc:docMk/>
            <pc:sldMk cId="0" sldId="259"/>
            <ac:spMk id="34" creationId="{00000000-0000-0000-0000-000000000000}"/>
          </ac:spMkLst>
        </pc:spChg>
        <pc:spChg chg="del">
          <ac:chgData name="Ridham Goyal" userId="80d06d8c55166d05" providerId="LiveId" clId="{ABFACEB9-6DAB-439A-A48A-7C8D491B1D57}" dt="2026-08-30T18:33:56.552" v="105" actId="478"/>
          <ac:spMkLst>
            <pc:docMk/>
            <pc:sldMk cId="0" sldId="259"/>
            <ac:spMk id="35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4:43.898" v="109" actId="1076"/>
          <ac:spMkLst>
            <pc:docMk/>
            <pc:sldMk cId="0" sldId="259"/>
            <ac:spMk id="41" creationId="{E76EB538-EDE6-323A-DB74-564715A92241}"/>
          </ac:spMkLst>
        </pc:spChg>
        <pc:spChg chg="mod">
          <ac:chgData name="Ridham Goyal" userId="80d06d8c55166d05" providerId="LiveId" clId="{ABFACEB9-6DAB-439A-A48A-7C8D491B1D57}" dt="2026-08-30T18:39:54.548" v="146" actId="121"/>
          <ac:spMkLst>
            <pc:docMk/>
            <pc:sldMk cId="0" sldId="259"/>
            <ac:spMk id="43" creationId="{5D0824C8-5062-8D12-156C-EBAB7150BC91}"/>
          </ac:spMkLst>
        </pc:spChg>
        <pc:grpChg chg="add mod">
          <ac:chgData name="Ridham Goyal" userId="80d06d8c55166d05" providerId="LiveId" clId="{ABFACEB9-6DAB-439A-A48A-7C8D491B1D57}" dt="2026-08-30T18:36:52.329" v="127" actId="1076"/>
          <ac:grpSpMkLst>
            <pc:docMk/>
            <pc:sldMk cId="0" sldId="259"/>
            <ac:grpSpMk id="46" creationId="{FD921317-DD99-C9DB-5CC4-697A100B7C44}"/>
          </ac:grpSpMkLst>
        </pc:grpChg>
        <pc:grpChg chg="add mod">
          <ac:chgData name="Ridham Goyal" userId="80d06d8c55166d05" providerId="LiveId" clId="{ABFACEB9-6DAB-439A-A48A-7C8D491B1D57}" dt="2026-08-30T18:37:59.487" v="132" actId="1076"/>
          <ac:grpSpMkLst>
            <pc:docMk/>
            <pc:sldMk cId="0" sldId="259"/>
            <ac:grpSpMk id="47" creationId="{31B5FE40-4559-7D02-966B-28AF3E0D7A52}"/>
          </ac:grpSpMkLst>
        </pc:grpChg>
        <pc:picChg chg="del">
          <ac:chgData name="Ridham Goyal" userId="80d06d8c55166d05" providerId="LiveId" clId="{ABFACEB9-6DAB-439A-A48A-7C8D491B1D57}" dt="2026-08-30T18:27:45.135" v="73" actId="478"/>
          <ac:picMkLst>
            <pc:docMk/>
            <pc:sldMk cId="0" sldId="259"/>
            <ac:picMk id="2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38:09.550" v="133" actId="14100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37:13.373" v="129" actId="14100"/>
          <ac:picMkLst>
            <pc:docMk/>
            <pc:sldMk cId="0" sldId="259"/>
            <ac:picMk id="5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36:46.553" v="126" actId="164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37:56.538" v="131" actId="164"/>
          <ac:picMkLst>
            <pc:docMk/>
            <pc:sldMk cId="0" sldId="259"/>
            <ac:picMk id="7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36:46.553" v="126" actId="164"/>
          <ac:picMkLst>
            <pc:docMk/>
            <pc:sldMk cId="0" sldId="259"/>
            <ac:picMk id="9" creationId="{00000000-0000-0000-0000-000000000000}"/>
          </ac:picMkLst>
        </pc:picChg>
        <pc:picChg chg="add ord">
          <ac:chgData name="Ridham Goyal" userId="80d06d8c55166d05" providerId="LiveId" clId="{ABFACEB9-6DAB-439A-A48A-7C8D491B1D57}" dt="2026-08-30T18:27:48.560" v="75" actId="167"/>
          <ac:picMkLst>
            <pc:docMk/>
            <pc:sldMk cId="0" sldId="259"/>
            <ac:picMk id="45" creationId="{158EAD3B-4032-A1C9-FFFA-DADB458139F4}"/>
          </ac:picMkLst>
        </pc:picChg>
      </pc:sldChg>
      <pc:sldChg chg="addSp delSp modSp mod">
        <pc:chgData name="Ridham Goyal" userId="80d06d8c55166d05" providerId="LiveId" clId="{ABFACEB9-6DAB-439A-A48A-7C8D491B1D57}" dt="2026-08-30T18:33:27.887" v="104" actId="404"/>
        <pc:sldMkLst>
          <pc:docMk/>
          <pc:sldMk cId="0" sldId="260"/>
        </pc:sldMkLst>
        <pc:spChg chg="mod">
          <ac:chgData name="Ridham Goyal" userId="80d06d8c55166d05" providerId="LiveId" clId="{ABFACEB9-6DAB-439A-A48A-7C8D491B1D57}" dt="2026-08-30T18:33:03.146" v="99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33:27.887" v="104" actId="404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20:49.107" v="32" actId="1410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5:29.136" v="4" actId="164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8:42.183" v="24" actId="255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58.466" v="28" actId="25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10.074" v="26" actId="25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58.466" v="28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10.074" v="26" actId="25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58.466" v="28" actId="255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10.074" v="26" actId="255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58.466" v="28" actId="25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10.074" v="26" actId="255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idham Goyal" userId="80d06d8c55166d05" providerId="LiveId" clId="{ABFACEB9-6DAB-439A-A48A-7C8D491B1D57}" dt="2026-08-30T18:19:58.466" v="28" actId="255"/>
          <ac:spMkLst>
            <pc:docMk/>
            <pc:sldMk cId="0" sldId="260"/>
            <ac:spMk id="31" creationId="{00000000-0000-0000-0000-000000000000}"/>
          </ac:spMkLst>
        </pc:spChg>
        <pc:grpChg chg="mod">
          <ac:chgData name="Ridham Goyal" userId="80d06d8c55166d05" providerId="LiveId" clId="{ABFACEB9-6DAB-439A-A48A-7C8D491B1D57}" dt="2026-08-30T18:15:47.395" v="8" actId="1076"/>
          <ac:grpSpMkLst>
            <pc:docMk/>
            <pc:sldMk cId="0" sldId="260"/>
            <ac:grpSpMk id="34" creationId="{CEF4B95B-4996-6D89-9FBF-577C4AE9686C}"/>
          </ac:grpSpMkLst>
        </pc:grpChg>
        <pc:grpChg chg="add mod">
          <ac:chgData name="Ridham Goyal" userId="80d06d8c55166d05" providerId="LiveId" clId="{ABFACEB9-6DAB-439A-A48A-7C8D491B1D57}" dt="2026-08-30T18:15:42.732" v="7" actId="1076"/>
          <ac:grpSpMkLst>
            <pc:docMk/>
            <pc:sldMk cId="0" sldId="260"/>
            <ac:grpSpMk id="35" creationId="{8F839F72-0838-91F6-7D08-8E45DB48FBE8}"/>
          </ac:grpSpMkLst>
        </pc:grpChg>
        <pc:picChg chg="del mod">
          <ac:chgData name="Ridham Goyal" userId="80d06d8c55166d05" providerId="LiveId" clId="{ABFACEB9-6DAB-439A-A48A-7C8D491B1D57}" dt="2026-08-30T18:27:38.932" v="70" actId="478"/>
          <ac:picMkLst>
            <pc:docMk/>
            <pc:sldMk cId="0" sldId="260"/>
            <ac:picMk id="2" creationId="{00000000-0000-0000-0000-000000000000}"/>
          </ac:picMkLst>
        </pc:picChg>
        <pc:picChg chg="mod">
          <ac:chgData name="Ridham Goyal" userId="80d06d8c55166d05" providerId="LiveId" clId="{ABFACEB9-6DAB-439A-A48A-7C8D491B1D57}" dt="2026-08-30T18:15:29.136" v="4" actId="164"/>
          <ac:picMkLst>
            <pc:docMk/>
            <pc:sldMk cId="0" sldId="260"/>
            <ac:picMk id="15" creationId="{00000000-0000-0000-0000-000000000000}"/>
          </ac:picMkLst>
        </pc:picChg>
        <pc:picChg chg="add ord">
          <ac:chgData name="Ridham Goyal" userId="80d06d8c55166d05" providerId="LiveId" clId="{ABFACEB9-6DAB-439A-A48A-7C8D491B1D57}" dt="2026-08-30T18:27:42.467" v="72" actId="167"/>
          <ac:picMkLst>
            <pc:docMk/>
            <pc:sldMk cId="0" sldId="260"/>
            <ac:picMk id="37" creationId="{A072F077-1EDB-F54C-DD45-B99424FE30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08FCC57A-1331-8A47-FCEB-7A9FEF5B5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060" y="1652391"/>
            <a:ext cx="280987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0749" y="3363974"/>
            <a:ext cx="7810500" cy="20971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400" b="0" i="0" u="none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case-interview practice &amp; assessment platform that evaluates how effectively candidates leverage AI to solve complex business problems.</a:t>
            </a:r>
            <a:endParaRPr lang="en-IN"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50"/>
              </a:lnSpc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Web platform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·  Helper AI + Judge AI, kept strictly separate  ·  Built with React,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FastAPI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&amp; Claude</a:t>
            </a:r>
          </a:p>
          <a:p>
            <a:pPr algn="ctr">
              <a:lnSpc>
                <a:spcPts val="225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practice ground for the interview skill nobody trains you for: working with AI to solve open-ended business problems.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50"/>
              </a:lnSpc>
            </a:pP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250"/>
              </a:lnSpc>
            </a:pPr>
            <a:endParaRPr sz="14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574922-97F6-D585-21A3-2259FF75B6F2}"/>
              </a:ext>
            </a:extLst>
          </p:cNvPr>
          <p:cNvGrpSpPr/>
          <p:nvPr/>
        </p:nvGrpSpPr>
        <p:grpSpPr>
          <a:xfrm>
            <a:off x="2405061" y="5066191"/>
            <a:ext cx="7381875" cy="371475"/>
            <a:chOff x="2571750" y="4383285"/>
            <a:chExt cx="7381875" cy="371475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1750" y="4383285"/>
              <a:ext cx="2438400" cy="371475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5900" y="4383285"/>
              <a:ext cx="2143125" cy="371475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10500" y="4383285"/>
              <a:ext cx="2143125" cy="37147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571750" y="4502348"/>
              <a:ext cx="152400" cy="133350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81625" y="4502348"/>
              <a:ext cx="114300" cy="133350"/>
            </a:xfrm>
            <a:prstGeom prst="rect">
              <a:avLst/>
            </a:prstGeom>
          </p:spPr>
        </p:pic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10500" y="4502348"/>
              <a:ext cx="133350" cy="1333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45C4C19-BE92-DBCE-8198-3B0FAC3C96A6}"/>
              </a:ext>
            </a:extLst>
          </p:cNvPr>
          <p:cNvSpPr txBox="1"/>
          <p:nvPr/>
        </p:nvSpPr>
        <p:spPr>
          <a:xfrm>
            <a:off x="2100343" y="2019497"/>
            <a:ext cx="7991311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 dirty="0" err="1">
                <a:solidFill>
                  <a:srgbClr val="0F172A"/>
                </a:solidFill>
                <a:latin typeface="+mj-lt"/>
              </a:rPr>
              <a:t>PromptBench</a:t>
            </a:r>
            <a:r>
              <a:rPr dirty="0">
                <a:latin typeface="+mj-lt"/>
              </a:rPr>
              <a:t>
</a:t>
            </a:r>
            <a:r>
              <a:rPr sz="4350" b="1" i="0" u="none" dirty="0">
                <a:solidFill>
                  <a:srgbClr val="2563EB"/>
                </a:solidFill>
                <a:latin typeface="+mj-lt"/>
              </a:rPr>
              <a:t>AI-Assisted Case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B02E1DD2-FE42-D344-8707-8B81350C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5579F93A-87CC-9596-20E8-1DA7E4A4B0CA}"/>
              </a:ext>
            </a:extLst>
          </p:cNvPr>
          <p:cNvGrpSpPr/>
          <p:nvPr/>
        </p:nvGrpSpPr>
        <p:grpSpPr>
          <a:xfrm>
            <a:off x="571500" y="2185987"/>
            <a:ext cx="11049000" cy="3781425"/>
            <a:chOff x="571500" y="1743075"/>
            <a:chExt cx="11049000" cy="3781425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743075"/>
              <a:ext cx="5391150" cy="3781425"/>
            </a:xfrm>
            <a:prstGeom prst="rect">
              <a:avLst/>
            </a:prstGeom>
          </p:spPr>
        </p:pic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9350" y="1743075"/>
              <a:ext cx="5391150" cy="3781425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775" y="4619625"/>
              <a:ext cx="4800600" cy="609600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24625" y="4619625"/>
              <a:ext cx="4800600" cy="6096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866775" y="2089221"/>
              <a:ext cx="4720590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B91C1C"/>
                  </a:solidFill>
                  <a:latin typeface="+mj-lt"/>
                </a:rPr>
                <a:t>The Problem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775" y="2476500"/>
              <a:ext cx="4800600" cy="3693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475569"/>
                  </a:solidFill>
                </a:rPr>
                <a:t>Modern enterprises assess candidates on </a:t>
              </a:r>
              <a:r>
                <a:rPr sz="1200" b="1" i="0" u="none" dirty="0">
                  <a:solidFill>
                    <a:srgbClr val="475569"/>
                  </a:solidFill>
                </a:rPr>
                <a:t>AI-assisted problem solving</a:t>
              </a:r>
              <a:r>
                <a:rPr sz="1200" b="0" i="0" u="none" dirty="0">
                  <a:solidFill>
                    <a:srgbClr val="475569"/>
                  </a:solidFill>
                </a:rPr>
                <a:t>, yet no structured practice environment exists: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524625" y="2089222"/>
              <a:ext cx="4690586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047857"/>
                  </a:solidFill>
                  <a:latin typeface="+mj-lt"/>
                </a:rPr>
                <a:t>The PromptBench Solution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524625" y="2476500"/>
              <a:ext cx="480060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0" i="0" u="none" dirty="0">
                  <a:solidFill>
                    <a:srgbClr val="475569"/>
                  </a:solidFill>
                </a:rPr>
                <a:t>A dual-layer AI sandbox engineered specifically for realistic case studies: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95375" y="2990850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 dirty="0">
                  <a:solidFill>
                    <a:srgbClr val="475569"/>
                  </a:solidFill>
                </a:rPr>
                <a:t>Market Gap:</a:t>
              </a:r>
              <a:r>
                <a:rPr sz="1200" b="0" i="0" u="none" dirty="0">
                  <a:solidFill>
                    <a:srgbClr val="475569"/>
                  </a:solidFill>
                </a:rPr>
                <a:t> </a:t>
              </a:r>
              <a:r>
                <a:rPr sz="1200" b="0" i="0" u="none" dirty="0" err="1">
                  <a:solidFill>
                    <a:srgbClr val="475569"/>
                  </a:solidFill>
                </a:rPr>
                <a:t>LeetCode</a:t>
              </a:r>
              <a:r>
                <a:rPr sz="1200" b="0" i="0" u="none" dirty="0">
                  <a:solidFill>
                    <a:srgbClr val="475569"/>
                  </a:solidFill>
                </a:rPr>
                <a:t> exists for coding, but zero standard tooling exists for AI case interviews.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95375" y="3533775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75569"/>
                  </a:solidFill>
                </a:rPr>
                <a:t>Critical Missing Skills:</a:t>
              </a:r>
              <a:r>
                <a:rPr sz="1200" b="0" i="0" u="none">
                  <a:solidFill>
                    <a:srgbClr val="475569"/>
                  </a:solidFill>
                </a:rPr>
                <a:t> Candidates fail to ask clarifying questions, accept hallucinated figures, and lack iterative rigor.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95375" y="4076700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 dirty="0">
                  <a:solidFill>
                    <a:srgbClr val="475569"/>
                  </a:solidFill>
                </a:rPr>
                <a:t>Evaluation Bottleneck:</a:t>
              </a:r>
              <a:r>
                <a:rPr sz="1200" b="0" i="0" u="none" dirty="0">
                  <a:solidFill>
                    <a:srgbClr val="475569"/>
                  </a:solidFill>
                </a:rPr>
                <a:t> Manual review of interactive candidate-AI transcripts is costly and inconsistent.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47750" y="4762500"/>
              <a:ext cx="704850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 u="none">
                  <a:solidFill>
                    <a:srgbClr val="334155"/>
                  </a:solidFill>
                </a:rPr>
                <a:t>Challenge: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753225" y="2990850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75569"/>
                  </a:solidFill>
                </a:rPr>
                <a:t>Interactive Workspace:</a:t>
              </a:r>
              <a:r>
                <a:rPr sz="1200" b="0" i="0" u="none">
                  <a:solidFill>
                    <a:srgbClr val="475569"/>
                  </a:solidFill>
                </a:rPr>
                <a:t> Candidates work with a conversational AI assistant scoped strictly to case context.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53225" y="3533775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75569"/>
                  </a:solidFill>
                </a:rPr>
                <a:t>Automated Blind Grading:</a:t>
              </a:r>
              <a:r>
                <a:rPr sz="1200" b="0" i="0" u="none">
                  <a:solidFill>
                    <a:srgbClr val="475569"/>
                  </a:solidFill>
                </a:rPr>
                <a:t> A decoupled Judge AI assesses transcripts against hidden ground truth.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753225" y="4076700"/>
              <a:ext cx="4572000" cy="42862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75569"/>
                  </a:solidFill>
                </a:rPr>
                <a:t>Actionable Feedback:</a:t>
              </a:r>
              <a:r>
                <a:rPr sz="1200" b="0" i="0" u="none">
                  <a:solidFill>
                    <a:srgbClr val="475569"/>
                  </a:solidFill>
                </a:rPr>
                <a:t> Instant rubric breakdowns with dimension-level scores and citations.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05600" y="4762500"/>
              <a:ext cx="752475" cy="18466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334155"/>
                  </a:solidFill>
                </a:rPr>
                <a:t>Core Value: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66775" y="2990850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66775" y="3533775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66775" y="4076700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24625" y="2990850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24625" y="3533775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524625" y="4076700"/>
              <a:ext cx="142875" cy="2041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687"/>
                </a:lnSpc>
              </a:pPr>
              <a:r>
                <a:rPr sz="1200" b="1" i="0" u="none">
                  <a:solidFill>
                    <a:srgbClr val="4F46E5"/>
                  </a:solidFill>
                </a:rPr>
                <a:t>→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571500" y="496371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+mj-lt"/>
              </a:rPr>
              <a:t>Problem &amp; Core Innovation</a:t>
            </a: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44BD6D0A-0AA7-E7F6-9E92-2EBE8A209E3E}"/>
              </a:ext>
            </a:extLst>
          </p:cNvPr>
          <p:cNvSpPr txBox="1"/>
          <p:nvPr/>
        </p:nvSpPr>
        <p:spPr>
          <a:xfrm>
            <a:off x="571500" y="890588"/>
            <a:ext cx="1088136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ea typeface="Cambria" pitchFamily="34" charset="-122"/>
                <a:cs typeface="Times New Roman" panose="02020603050405020304" pitchFamily="18" charset="0"/>
              </a:rPr>
              <a:t>Everyone practices coding interviews. No one practices this.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7B60BF1E-D531-8B7C-A1C1-A8AABE6F2CB6}"/>
              </a:ext>
            </a:extLst>
          </p:cNvPr>
          <p:cNvSpPr txBox="1"/>
          <p:nvPr/>
        </p:nvSpPr>
        <p:spPr>
          <a:xfrm>
            <a:off x="571500" y="1153985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increasingly judge candidates on how they use AI to solve ambiguous, open-ended business problems — not just whether they get the "right" answer.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image.png">
            <a:extLst>
              <a:ext uri="{FF2B5EF4-FFF2-40B4-BE49-F238E27FC236}">
                <a16:creationId xmlns:a16="http://schemas.microsoft.com/office/drawing/2014/main" id="{703FBEAE-B906-6FDD-E636-A7DE1857D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70697BEA-70E6-7A56-B444-3D681542FA56}"/>
              </a:ext>
            </a:extLst>
          </p:cNvPr>
          <p:cNvGrpSpPr/>
          <p:nvPr/>
        </p:nvGrpSpPr>
        <p:grpSpPr>
          <a:xfrm>
            <a:off x="571500" y="1704760"/>
            <a:ext cx="11048999" cy="2617589"/>
            <a:chOff x="571500" y="2324992"/>
            <a:chExt cx="11048999" cy="2617589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2324992"/>
              <a:ext cx="2633662" cy="2617589"/>
            </a:xfrm>
            <a:prstGeom prst="rect">
              <a:avLst/>
            </a:prstGeom>
          </p:spPr>
        </p:pic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76612" y="2324992"/>
              <a:ext cx="2633662" cy="2617589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1725" y="2324992"/>
              <a:ext cx="2633662" cy="2617589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86837" y="2324992"/>
              <a:ext cx="2633662" cy="2617589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71525" y="2563117"/>
              <a:ext cx="419100" cy="4191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771525" y="3134617"/>
              <a:ext cx="23452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Helper AI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1525" y="3448942"/>
              <a:ext cx="2233612" cy="755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Scoped assistant with zero rubric access. Interacts dynamically using only public case context to simulate realistic workplace assistance.</a:t>
              </a:r>
            </a:p>
          </p:txBody>
        </p:sp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525" y="4494907"/>
              <a:ext cx="1247775" cy="209550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76637" y="2563117"/>
              <a:ext cx="419100" cy="419100"/>
            </a:xfrm>
            <a:prstGeom prst="rect">
              <a:avLst/>
            </a:prstGeom>
          </p:spPr>
        </p:pic>
        <p:sp>
          <p:nvSpPr>
            <p:cNvPr id="12" name="TextBox 11"/>
            <p:cNvSpPr txBox="1"/>
            <p:nvPr/>
          </p:nvSpPr>
          <p:spPr>
            <a:xfrm>
              <a:off x="3576637" y="3134617"/>
              <a:ext cx="23452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Judge AI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576637" y="3448942"/>
              <a:ext cx="2233612" cy="755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>
                  <a:solidFill>
                    <a:srgbClr val="64748B"/>
                  </a:solidFill>
                </a:rPr>
                <a:t>Isolated evaluator invoked at submission. Grades full transcript + final answer against hidden ground truth and weighted rubric criteria.</a:t>
              </a: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76637" y="4494907"/>
              <a:ext cx="1262062" cy="209550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81750" y="2563117"/>
              <a:ext cx="419100" cy="41910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6381750" y="3134617"/>
              <a:ext cx="23452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4-D Rubric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81750" y="3391973"/>
              <a:ext cx="2233612" cy="9543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Measures: </a:t>
              </a:r>
              <a:endParaRPr lang="en-IN" sz="1200" b="0" i="0" u="none" dirty="0">
                <a:solidFill>
                  <a:srgbClr val="64748B"/>
                </a:solidFill>
              </a:endParaRPr>
            </a:p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(1) Clarifying Questions (20%) </a:t>
              </a:r>
              <a:endParaRPr lang="en-IN" sz="1200" b="0" i="0" u="none" dirty="0">
                <a:solidFill>
                  <a:srgbClr val="64748B"/>
                </a:solidFill>
              </a:endParaRPr>
            </a:p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(2) Iteration Quality (25%) </a:t>
              </a:r>
              <a:endParaRPr lang="en-IN" sz="1200" b="0" i="0" u="none" dirty="0">
                <a:solidFill>
                  <a:srgbClr val="64748B"/>
                </a:solidFill>
              </a:endParaRPr>
            </a:p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(3) Hallucination Catching (25%)</a:t>
              </a:r>
              <a:endParaRPr lang="en-IN" sz="1200" b="0" i="0" u="none" dirty="0">
                <a:solidFill>
                  <a:srgbClr val="64748B"/>
                </a:solidFill>
              </a:endParaRPr>
            </a:p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(4) Final Recommendation (30%).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81750" y="4494907"/>
              <a:ext cx="1395412" cy="209550"/>
            </a:xfrm>
            <a:prstGeom prst="rect">
              <a:avLst/>
            </a:prstGeom>
          </p:spPr>
        </p:pic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186862" y="2563117"/>
              <a:ext cx="419100" cy="41910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9186862" y="3134617"/>
              <a:ext cx="2345293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Anti-Gaming</a:t>
              </a:r>
              <a:endParaRPr sz="1200" b="1" i="0" u="none" dirty="0">
                <a:solidFill>
                  <a:srgbClr val="0F172A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186862" y="3448942"/>
              <a:ext cx="2233612" cy="76200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>
                  <a:solidFill>
                    <a:srgbClr val="64748B"/>
                  </a:solidFill>
                </a:rPr>
                <a:t>Heuristic inspection flagging zero-conversation attempts, rapid submissions (&lt;30s), and pre-formulated paste attacks.</a:t>
              </a:r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186862" y="4494907"/>
              <a:ext cx="1200150" cy="209550"/>
            </a:xfrm>
            <a:prstGeom prst="rect">
              <a:avLst/>
            </a:prstGeom>
          </p:spPr>
        </p:pic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2012" y="2677417"/>
              <a:ext cx="238125" cy="190500"/>
            </a:xfrm>
            <a:prstGeom prst="rect">
              <a:avLst/>
            </a:prstGeom>
          </p:spPr>
        </p:pic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690937" y="2677417"/>
              <a:ext cx="190500" cy="190500"/>
            </a:xfrm>
            <a:prstGeom prst="rect">
              <a:avLst/>
            </a:prstGeom>
          </p:spPr>
        </p:pic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481762" y="2677417"/>
              <a:ext cx="219075" cy="190500"/>
            </a:xfrm>
            <a:prstGeom prst="rect">
              <a:avLst/>
            </a:prstGeom>
          </p:spPr>
        </p:pic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301162" y="2677417"/>
              <a:ext cx="190500" cy="190500"/>
            </a:xfrm>
            <a:prstGeom prst="rect">
              <a:avLst/>
            </a:prstGeom>
          </p:spPr>
        </p:pic>
      </p:grpSp>
      <p:sp>
        <p:nvSpPr>
          <p:cNvPr id="27" name="TextBox 26"/>
          <p:cNvSpPr txBox="1"/>
          <p:nvPr/>
        </p:nvSpPr>
        <p:spPr>
          <a:xfrm>
            <a:off x="571500" y="496371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+mj-lt"/>
              </a:rPr>
              <a:t>Dual-AI Architecture &amp; Rubric</a:t>
            </a: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E95FAC11-F6E3-CA98-1FA1-F0E6A72E0182}"/>
              </a:ext>
            </a:extLst>
          </p:cNvPr>
          <p:cNvSpPr txBox="1"/>
          <p:nvPr/>
        </p:nvSpPr>
        <p:spPr>
          <a:xfrm>
            <a:off x="571500" y="5137176"/>
            <a:ext cx="9418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Helper AI and Judge AI are architecturally isolated — different system prompts, separate API calls. The Helper never sees the rubric or ground-truth answer, at no point, under any circumstance. That's the integrity guarantee of the whole product.</a:t>
            </a:r>
            <a:endParaRPr lang="en-US" sz="13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AD5E9016-701A-DCEA-C161-6CF8D95F7CF5}"/>
              </a:ext>
            </a:extLst>
          </p:cNvPr>
          <p:cNvSpPr txBox="1"/>
          <p:nvPr/>
        </p:nvSpPr>
        <p:spPr>
          <a:xfrm>
            <a:off x="571500" y="503402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DESIGN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A072F077-1EDB-F54C-DD45-B99424FE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0490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+mj-lt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935956"/>
            <a:ext cx="1160145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0F172A"/>
                </a:solidFill>
                <a:cs typeface="Times New Roman" panose="02020603050405020304" pitchFamily="18" charset="0"/>
              </a:rPr>
              <a:t>One product loop. Two AI roles that never talk.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F839F72-0838-91F6-7D08-8E45DB48FBE8}"/>
              </a:ext>
            </a:extLst>
          </p:cNvPr>
          <p:cNvGrpSpPr/>
          <p:nvPr/>
        </p:nvGrpSpPr>
        <p:grpSpPr>
          <a:xfrm>
            <a:off x="571352" y="5105400"/>
            <a:ext cx="11049296" cy="400050"/>
            <a:chOff x="571204" y="3981450"/>
            <a:chExt cx="11049296" cy="400050"/>
          </a:xfrm>
        </p:grpSpPr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981450"/>
              <a:ext cx="11049000" cy="40005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571204" y="4105275"/>
              <a:ext cx="7753646" cy="184666"/>
            </a:xfrm>
            <a:prstGeom prst="rect">
              <a:avLst/>
            </a:prstGeom>
            <a:noFill/>
          </p:spPr>
          <p:txBody>
            <a:bodyPr wrap="square" lIns="209550" tIns="0" rIns="0" bIns="0" anchor="t">
              <a:spAutoFit/>
            </a:bodyPr>
            <a:lstStyle/>
            <a:p>
              <a:pPr algn="l"/>
              <a:r>
                <a:rPr sz="1200" b="1" i="0" u="none" dirty="0">
                  <a:solidFill>
                    <a:srgbClr val="0F172A"/>
                  </a:solidFill>
                </a:rPr>
                <a:t>Core Integrity Guarantee:</a:t>
              </a:r>
              <a:r>
                <a:rPr sz="1200" b="0" i="0" u="none" dirty="0">
                  <a:solidFill>
                    <a:srgbClr val="334155"/>
                  </a:solidFill>
                </a:rPr>
                <a:t> Helper AI is completely air-gapped from rubrics and ground truth to prevent bias or leakage.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963150" y="4110037"/>
              <a:ext cx="1476375" cy="142875"/>
            </a:xfrm>
            <a:prstGeom prst="rect">
              <a:avLst/>
            </a:prstGeom>
            <a:noFill/>
          </p:spPr>
          <p:txBody>
            <a:bodyPr wrap="square" lIns="142875" tIns="0" rIns="0" bIns="0" anchor="t">
              <a:spAutoFit/>
            </a:bodyPr>
            <a:lstStyle/>
            <a:p>
              <a:pPr algn="l"/>
              <a:r>
                <a:rPr sz="937" b="0" i="0" u="none">
                  <a:solidFill>
                    <a:srgbClr val="64748B"/>
                  </a:solidFill>
                  <a:latin typeface="Inter SemiBold"/>
                </a:rPr>
                <a:t>Server-Side Evaluation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EF4B95B-4996-6D89-9FBF-577C4AE9686C}"/>
              </a:ext>
            </a:extLst>
          </p:cNvPr>
          <p:cNvGrpSpPr/>
          <p:nvPr/>
        </p:nvGrpSpPr>
        <p:grpSpPr>
          <a:xfrm>
            <a:off x="571500" y="1914525"/>
            <a:ext cx="11049148" cy="2571750"/>
            <a:chOff x="571500" y="1181100"/>
            <a:chExt cx="11049148" cy="2571750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500" y="1181100"/>
              <a:ext cx="1935509" cy="2571750"/>
            </a:xfrm>
            <a:prstGeom prst="rect">
              <a:avLst/>
            </a:prstGeom>
          </p:spPr>
        </p:pic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49909" y="1181100"/>
              <a:ext cx="1935509" cy="2571750"/>
            </a:xfrm>
            <a:prstGeom prst="rect">
              <a:avLst/>
            </a:prstGeom>
          </p:spPr>
        </p:pic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28319" y="1181100"/>
              <a:ext cx="1935509" cy="2571750"/>
            </a:xfrm>
            <a:prstGeom prst="rect">
              <a:avLst/>
            </a:prstGeom>
          </p:spPr>
        </p:pic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06729" y="1181100"/>
              <a:ext cx="1935509" cy="2571750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85139" y="1181100"/>
              <a:ext cx="1935509" cy="2571750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2475" y="1419225"/>
              <a:ext cx="323850" cy="323850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030884" y="1419225"/>
              <a:ext cx="323850" cy="323850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09294" y="1419225"/>
              <a:ext cx="323850" cy="323850"/>
            </a:xfrm>
            <a:prstGeom prst="rect">
              <a:avLst/>
            </a:prstGeom>
          </p:spPr>
        </p:pic>
        <p:pic>
          <p:nvPicPr>
            <p:cNvPr id="11" name="Picture 10" descr="image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87704" y="1419225"/>
              <a:ext cx="323850" cy="323850"/>
            </a:xfrm>
            <a:prstGeom prst="rect">
              <a:avLst/>
            </a:prstGeom>
          </p:spPr>
        </p:pic>
        <p:pic>
          <p:nvPicPr>
            <p:cNvPr id="12" name="Picture 11" descr="image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866114" y="1419225"/>
              <a:ext cx="323850" cy="323850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752475" y="1914525"/>
              <a:ext cx="16522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  <a:latin typeface="+mj-lt"/>
                </a:rPr>
                <a:t>Pick a case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52475" y="2247900"/>
              <a:ext cx="1573559" cy="5696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Candidate chooses a business case (e.g. diagnose a churn spike).</a:t>
              </a:r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621309" y="2400300"/>
              <a:ext cx="114300" cy="133350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3030884" y="1914525"/>
              <a:ext cx="16522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FFFFFF"/>
                  </a:solidFill>
                  <a:latin typeface="+mj-lt"/>
                </a:rPr>
                <a:t>Work with Helper AI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030737" y="2254151"/>
              <a:ext cx="1573559" cy="5696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CBD5E1"/>
                  </a:solidFill>
                </a:rPr>
                <a:t>Chats with an AI that knows only the case's public context.</a:t>
              </a:r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99719" y="2400300"/>
              <a:ext cx="114300" cy="133350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5309294" y="1914525"/>
              <a:ext cx="16522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>
                  <a:solidFill>
                    <a:srgbClr val="0F172A"/>
                  </a:solidFill>
                  <a:latin typeface="+mj-lt"/>
                </a:rPr>
                <a:t>Submit final answer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309294" y="2254151"/>
              <a:ext cx="1573559" cy="5696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Candidate writes a recommendation once ready.</a:t>
              </a:r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78129" y="2400300"/>
              <a:ext cx="114300" cy="133350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587704" y="1914525"/>
              <a:ext cx="16522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>
                  <a:solidFill>
                    <a:srgbClr val="FFFFFF"/>
                  </a:solidFill>
                  <a:latin typeface="+mj-lt"/>
                </a:rPr>
                <a:t>Judge AI grades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587704" y="2247900"/>
              <a:ext cx="1573559" cy="5696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FCE7F3"/>
                  </a:solidFill>
                </a:rPr>
                <a:t>A separate AI scores the transcript vs. a hidden rubric.</a:t>
              </a:r>
            </a:p>
          </p:txBody>
        </p:sp>
        <p:pic>
          <p:nvPicPr>
            <p:cNvPr id="29" name="Picture 28" descr="image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456539" y="2400300"/>
              <a:ext cx="114300" cy="13335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9866114" y="1914525"/>
              <a:ext cx="165223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  <a:latin typeface="+mj-lt"/>
                </a:rPr>
                <a:t>Score dashboard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866114" y="2247900"/>
              <a:ext cx="1573559" cy="37728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468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Candidate sees a per-dimension breakdown.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image.png">
            <a:extLst>
              <a:ext uri="{FF2B5EF4-FFF2-40B4-BE49-F238E27FC236}">
                <a16:creationId xmlns:a16="http://schemas.microsoft.com/office/drawing/2014/main" id="{158EAD3B-4032-A1C9-FFFA-DADB45813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95525"/>
            <a:ext cx="4580036" cy="31502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286" y="3217663"/>
            <a:ext cx="6183213" cy="76854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211" y="3360539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533650"/>
            <a:ext cx="4308976" cy="246221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</a:rPr>
              <a:t>Technology Stack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905125"/>
            <a:ext cx="4103786" cy="3714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390900"/>
            <a:ext cx="4103786" cy="3714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3876675"/>
            <a:ext cx="4103786" cy="3714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362450"/>
            <a:ext cx="4103786" cy="3714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571750"/>
            <a:ext cx="219075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2500" y="3014662"/>
            <a:ext cx="73342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7257" y="3006596"/>
            <a:ext cx="162327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 u="none" dirty="0">
                <a:solidFill>
                  <a:srgbClr val="0F172A"/>
                </a:solidFill>
              </a:rPr>
              <a:t> React + Vite + Tailwind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3500437"/>
            <a:ext cx="6429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7257" y="3456652"/>
            <a:ext cx="162327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 u="none" dirty="0">
                <a:solidFill>
                  <a:srgbClr val="0F172A"/>
                </a:solidFill>
              </a:rPr>
              <a:t> </a:t>
            </a:r>
            <a:r>
              <a:rPr sz="1200" b="0" i="0" u="none" dirty="0" err="1">
                <a:solidFill>
                  <a:srgbClr val="0F172A"/>
                </a:solidFill>
              </a:rPr>
              <a:t>FastAPI</a:t>
            </a:r>
            <a:r>
              <a:rPr sz="1200" b="0" i="0" u="none" dirty="0">
                <a:solidFill>
                  <a:srgbClr val="0F172A"/>
                </a:solidFill>
              </a:rPr>
              <a:t> + </a:t>
            </a:r>
            <a:r>
              <a:rPr sz="1200" b="0" i="0" u="none" dirty="0" err="1">
                <a:solidFill>
                  <a:srgbClr val="0F172A"/>
                </a:solidFill>
              </a:rPr>
              <a:t>SQLAlchemy</a:t>
            </a:r>
            <a:endParaRPr sz="1200" b="0" i="0" u="none" dirty="0">
              <a:solidFill>
                <a:srgbClr val="0F172A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2500" y="3986212"/>
            <a:ext cx="7143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4748B"/>
                </a:solidFill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7257" y="3970080"/>
            <a:ext cx="1623279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 u="none" dirty="0">
                <a:solidFill>
                  <a:srgbClr val="0F172A"/>
                </a:solidFill>
              </a:rPr>
              <a:t>PostgreSQL (Neon)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4471987"/>
            <a:ext cx="68103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64748B"/>
                </a:solidFill>
              </a:rPr>
              <a:t>AI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47257" y="4383747"/>
            <a:ext cx="165735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0" i="0" u="none" dirty="0">
                <a:solidFill>
                  <a:srgbClr val="0F172A"/>
                </a:solidFill>
              </a:rPr>
              <a:t>Anthropic Claude Sonnet</a:t>
            </a:r>
            <a:r>
              <a:rPr lang="en-IN" sz="1200" b="0" i="0" u="none" dirty="0">
                <a:solidFill>
                  <a:srgbClr val="0F172A"/>
                </a:solidFill>
              </a:rPr>
              <a:t> API x2</a:t>
            </a:r>
            <a:endParaRPr sz="1200" b="0" i="0" u="none" dirty="0">
              <a:solidFill>
                <a:srgbClr val="0F172A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B5FE40-4559-7D02-966B-28AF3E0D7A52}"/>
              </a:ext>
            </a:extLst>
          </p:cNvPr>
          <p:cNvGrpSpPr/>
          <p:nvPr/>
        </p:nvGrpSpPr>
        <p:grpSpPr>
          <a:xfrm>
            <a:off x="5437286" y="2392213"/>
            <a:ext cx="6183213" cy="755798"/>
            <a:chOff x="5437286" y="2444352"/>
            <a:chExt cx="6183213" cy="755798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37286" y="2444352"/>
              <a:ext cx="6183213" cy="755798"/>
            </a:xfrm>
            <a:prstGeom prst="rect">
              <a:avLst/>
            </a:prstGeom>
          </p:spPr>
        </p:pic>
        <p:pic>
          <p:nvPicPr>
            <p:cNvPr id="7" name="Picture 6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99211" y="2587228"/>
              <a:ext cx="304800" cy="304800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6056411" y="2587228"/>
              <a:ext cx="5340667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Phase 1: DB Schema &amp; Auth API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056411" y="2787253"/>
              <a:ext cx="5086350" cy="3590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Deploy PostgreSQL models, bcrypt authentication, and JWT authorization middleware.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056411" y="3360539"/>
            <a:ext cx="546068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F172A"/>
                </a:solidFill>
              </a:rPr>
              <a:t>Phase 2: Isolated Dual-LLM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6411" y="3560564"/>
            <a:ext cx="5200650" cy="3590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1200" b="0" i="0" u="none" dirty="0">
                <a:solidFill>
                  <a:srgbClr val="64748B"/>
                </a:solidFill>
              </a:rPr>
              <a:t>Implement Helper chat persistence and Judge grading service with anti-gaming checks.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921317-DD99-C9DB-5CC4-697A100B7C44}"/>
              </a:ext>
            </a:extLst>
          </p:cNvPr>
          <p:cNvGrpSpPr/>
          <p:nvPr/>
        </p:nvGrpSpPr>
        <p:grpSpPr>
          <a:xfrm>
            <a:off x="5437286" y="4055864"/>
            <a:ext cx="6291396" cy="832246"/>
            <a:chOff x="5437286" y="3990975"/>
            <a:chExt cx="6291396" cy="832246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437286" y="3990975"/>
              <a:ext cx="6183213" cy="832246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599211" y="4133850"/>
              <a:ext cx="304800" cy="304800"/>
            </a:xfrm>
            <a:prstGeom prst="rect">
              <a:avLst/>
            </a:prstGeom>
          </p:spPr>
        </p:pic>
        <p:sp>
          <p:nvSpPr>
            <p:cNvPr id="32" name="TextBox 31"/>
            <p:cNvSpPr txBox="1"/>
            <p:nvPr/>
          </p:nvSpPr>
          <p:spPr>
            <a:xfrm>
              <a:off x="6056411" y="4133850"/>
              <a:ext cx="5672271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i="0" u="none" dirty="0">
                  <a:solidFill>
                    <a:srgbClr val="0F172A"/>
                  </a:solidFill>
                </a:rPr>
                <a:t>Phase 3: Interactive UI &amp; Seed Data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056411" y="4333875"/>
              <a:ext cx="5402163" cy="35907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sz="1200" b="0" i="0" u="none" dirty="0">
                  <a:solidFill>
                    <a:srgbClr val="64748B"/>
                  </a:solidFill>
                </a:rPr>
                <a:t>Build workspace with split-pane chat/submission view, evaluation breakdown, and initial case studies.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571500" y="613195"/>
            <a:ext cx="1160145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u="none" dirty="0">
                <a:solidFill>
                  <a:srgbClr val="002060"/>
                </a:solidFill>
                <a:latin typeface="+mj-lt"/>
              </a:rPr>
              <a:t>Tech Stack &amp; Implementation Plan</a:t>
            </a:r>
          </a:p>
        </p:txBody>
      </p:sp>
      <p:pic>
        <p:nvPicPr>
          <p:cNvPr id="37" name="Picture 36" descr="image.png">
            <a:extLst>
              <a:ext uri="{FF2B5EF4-FFF2-40B4-BE49-F238E27FC236}">
                <a16:creationId xmlns:a16="http://schemas.microsoft.com/office/drawing/2014/main" id="{641818FA-4269-0072-A048-8791E2F2F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852987"/>
            <a:ext cx="4103786" cy="371475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76EB538-EDE6-323A-DB74-564715A92241}"/>
              </a:ext>
            </a:extLst>
          </p:cNvPr>
          <p:cNvSpPr txBox="1"/>
          <p:nvPr/>
        </p:nvSpPr>
        <p:spPr>
          <a:xfrm>
            <a:off x="952500" y="4969474"/>
            <a:ext cx="9917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200" b="1" i="0" u="none" dirty="0">
                <a:solidFill>
                  <a:srgbClr val="64748B"/>
                </a:solidFill>
              </a:rPr>
              <a:t>Authentication</a:t>
            </a:r>
            <a:endParaRPr sz="1200" b="1" i="0" u="none" dirty="0">
              <a:solidFill>
                <a:srgbClr val="64748B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0824C8-5062-8D12-156C-EBAB7150BC91}"/>
              </a:ext>
            </a:extLst>
          </p:cNvPr>
          <p:cNvSpPr txBox="1"/>
          <p:nvPr/>
        </p:nvSpPr>
        <p:spPr>
          <a:xfrm>
            <a:off x="3147257" y="4946391"/>
            <a:ext cx="159470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IN" sz="1200" b="0" i="0" u="none" dirty="0">
                <a:solidFill>
                  <a:srgbClr val="0F172A"/>
                </a:solidFill>
              </a:rPr>
              <a:t>JWT + bcrypt</a:t>
            </a:r>
            <a:endParaRPr sz="1200" b="0" i="0" u="none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598</Words>
  <Application>Microsoft Office PowerPoint</Application>
  <PresentationFormat>Widescreen</PresentationFormat>
  <Paragraphs>72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</vt:lpstr>
      <vt:lpstr>Inter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Ridham Goyal</dc:creator>
  <cp:keywords/>
  <dc:description>generated using python-pptx</dc:description>
  <cp:lastModifiedBy>Ridham Goyal</cp:lastModifiedBy>
  <cp:revision>2</cp:revision>
  <dcterms:created xsi:type="dcterms:W3CDTF">2013-01-27T09:14:16Z</dcterms:created>
  <dcterms:modified xsi:type="dcterms:W3CDTF">2026-08-30T18:40:04Z</dcterms:modified>
  <cp:category/>
</cp:coreProperties>
</file>